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4" r:id="rId1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7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-731520"/>
            <a:ext cx="3840480" cy="384048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18320" y="4389120"/>
            <a:ext cx="2560320" cy="256032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457200" y="5212080"/>
            <a:ext cx="2194560" cy="21945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566928"/>
            <a:ext cx="2240280" cy="384048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Coursework Project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64008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Urban Climate
Insights API</a:t>
            </a:r>
            <a:endParaRPr sz="3100" b="1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86384" y="239572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A RESTful backend for UK city weather and air-quality data, combining authenticated CRUD, external data import, and analytics.</a:t>
            </a:r>
            <a:endParaRPr sz="1700" b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86384" y="3246120"/>
            <a:ext cx="4069080" cy="438912"/>
          </a:xfrm>
          <a:prstGeom prst="roundRect">
            <a:avLst/>
          </a:prstGeom>
          <a:solidFill>
            <a:srgbClr val="F97316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FastAPI + SQLAlchemy + JWT + Open-Meteo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406640" y="1097280"/>
            <a:ext cx="141732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71232" y="1261872"/>
            <a:ext cx="108813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D9488"/>
                </a:solidFill>
                <a:latin typeface="Aptos Display"/>
              </a:rPr>
              <a:t>6</a:t>
            </a:r>
            <a:endParaRPr sz="2600" b="1">
              <a:solidFill>
                <a:srgbClr val="0D9488"/>
              </a:solidFill>
              <a:latin typeface="Aptos Display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571232" y="1755648"/>
            <a:ext cx="108813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seeded UK cities</a:t>
            </a:r>
            <a:endParaRPr sz="13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098280" y="1097280"/>
            <a:ext cx="141732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62872" y="1261872"/>
            <a:ext cx="108813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97316"/>
                </a:solidFill>
                <a:latin typeface="Aptos Display"/>
              </a:rPr>
              <a:t>180</a:t>
            </a:r>
            <a:endParaRPr sz="2600" b="1">
              <a:solidFill>
                <a:srgbClr val="F97316"/>
              </a:solidFill>
              <a:latin typeface="Aptos Display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262872" y="1755648"/>
            <a:ext cx="108813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seeded records</a:t>
            </a:r>
            <a:endParaRPr sz="13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406640" y="2560320"/>
            <a:ext cx="310896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71232" y="2724912"/>
            <a:ext cx="277977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JWT</a:t>
            </a:r>
            <a:endParaRPr sz="2600" b="1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71232" y="3218688"/>
            <a:ext cx="277977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Aptos"/>
              </a:rPr>
              <a:t>protected write operations</a:t>
            </a:r>
            <a:endParaRPr sz="13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49808" y="5303520"/>
            <a:ext cx="9784080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532120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Student: Yuan Rui</a:t>
            </a:r>
            <a:endParaRPr sz="1400" b="1">
              <a:solidFill>
                <a:srgbClr val="0F172A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657600" y="5532120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Aptos"/>
              </a:rPr>
              <a:t>ID: 2022115981</a:t>
            </a:r>
            <a:endParaRPr sz="1400" b="1">
              <a:solidFill>
                <a:srgbClr val="0F172A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0" y="5532120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https://github.com/gapmaker1/urban-climate-insights-api</a:t>
            </a:r>
            <a:endParaRPr sz="1300" b="0">
              <a:solidFill>
                <a:srgbClr val="33415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457200"/>
            <a:ext cx="2377440" cy="23774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PROJECT FOCUS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From basic CRUD to a small analytical platform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The project was designed to meet the minimum requirements and then extend them with real web data and analysis.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4747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84831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1. Core backend service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87552" y="246888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Database-backed CRUD for cities and daily records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Clear JSON responses and standard status codes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874519"/>
            <a:ext cx="34747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084831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2. External web data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17720" y="246888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Imports historical weather and air-quality data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Uses Open-Meteo geocoding, archive, and AQ APIs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874519"/>
            <a:ext cx="347472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456" y="2084831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3. Analytics layer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47888" y="246888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Summary, trend, compare, and anomaly endpoints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Designed to support meaningful oral demonstration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886200"/>
            <a:ext cx="10716768" cy="2011680"/>
          </a:xfrm>
          <a:prstGeom prst="roundRect">
            <a:avLst/>
          </a:prstGeom>
          <a:solidFill>
            <a:srgbClr val="E2E8F0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87952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Why this topic?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87552" y="4590288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t>It fits the module well because it combines web services, SQL persistence, open data integration, and measurable analytics.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ptos"/>
              </a:defRPr>
            </a:pPr>
            <a:r>
              <a:t>The outputs are easy to explain visually: real cities, real dates, real environmental indicators, and clear comparisons.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6680" y="-12573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-365760"/>
            <a:ext cx="2011680" cy="201168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ARCHITECTURE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Layered design keeps HTTP, validation, storage, and integration concerns separate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393" y="1549527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This structure made the API easier to maintain, test, and explain during the oral examination.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1893570" cy="1824355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959" y="2011934"/>
            <a:ext cx="16276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 Display"/>
              </a:rPr>
              <a:t>Client / Swagger UI</a:t>
            </a:r>
            <a:endParaRPr sz="1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9264" y="2542032"/>
            <a:ext cx="1627632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Users send HTTP requests, authenticate, and inspect responses through interactive documentation.</a:t>
            </a:r>
            <a:endParaRPr sz="1300" b="0">
              <a:solidFill>
                <a:srgbClr val="334155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063240" y="2011680"/>
            <a:ext cx="2057400" cy="1594485"/>
          </a:xfrm>
          <a:prstGeom prst="roundRect">
            <a:avLst/>
          </a:prstGeom>
          <a:solidFill>
            <a:srgbClr val="CCFBF1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10179" y="2052574"/>
            <a:ext cx="1764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 Display"/>
              </a:rPr>
              <a:t>FastAPI Routers</a:t>
            </a:r>
            <a:endParaRPr sz="1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24149" y="2592832"/>
            <a:ext cx="1764792" cy="667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Route handlers expose auth, cities, records, imports, and analytics endpoints.</a:t>
            </a:r>
            <a:endParaRPr sz="1300" b="0">
              <a:solidFill>
                <a:srgbClr val="334155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468112" y="1828800"/>
            <a:ext cx="2377440" cy="1691640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306" y="1837944"/>
            <a:ext cx="20848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 Display"/>
              </a:rPr>
              <a:t>Services + Validation</a:t>
            </a:r>
            <a:endParaRPr sz="1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614416" y="2359152"/>
            <a:ext cx="2084832" cy="10332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Pydantic validates payloads while service modules handle analytics, security helpers, and Open-Meteo logic.</a:t>
            </a:r>
            <a:endParaRPr sz="1300" b="0">
              <a:solidFill>
                <a:srgbClr val="334155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211312" y="1783080"/>
            <a:ext cx="1508760" cy="1234440"/>
          </a:xfrm>
          <a:prstGeom prst="roundRect">
            <a:avLst/>
          </a:prstGeom>
          <a:solidFill>
            <a:srgbClr val="EDE9F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6" y="1929384"/>
            <a:ext cx="1216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 Display"/>
              </a:rPr>
              <a:t>SQLite</a:t>
            </a:r>
            <a:endParaRPr sz="1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57616" y="2313432"/>
            <a:ext cx="1216152" cy="576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Persistent local data store</a:t>
            </a:r>
            <a:endParaRPr sz="1300" b="0">
              <a:solidFill>
                <a:srgbClr val="334155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0012680" y="1783080"/>
            <a:ext cx="1325880" cy="1234440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8034" y="1883664"/>
            <a:ext cx="103327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 Display"/>
              </a:rPr>
              <a:t>Open-Meteo</a:t>
            </a:r>
            <a:endParaRPr sz="1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158984" y="2441702"/>
            <a:ext cx="1033272" cy="576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External data source</a:t>
            </a:r>
            <a:endParaRPr sz="1300" b="0">
              <a:solidFill>
                <a:srgbClr val="334155"/>
              </a:solidFill>
              <a:latin typeface="Aptos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2743200" y="2697480"/>
            <a:ext cx="320040" cy="0"/>
          </a:xfrm>
          <a:prstGeom prst="line">
            <a:avLst/>
          </a:prstGeom>
          <a:ln w="3048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20640" y="2697480"/>
            <a:ext cx="347472" cy="0"/>
          </a:xfrm>
          <a:prstGeom prst="line">
            <a:avLst/>
          </a:prstGeom>
          <a:ln w="3048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45552" y="2423160"/>
            <a:ext cx="365760" cy="0"/>
          </a:xfrm>
          <a:prstGeom prst="line">
            <a:avLst/>
          </a:prstGeom>
          <a:ln w="3048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845552" y="2423160"/>
            <a:ext cx="2167128" cy="457200"/>
          </a:xfrm>
          <a:prstGeom prst="line">
            <a:avLst/>
          </a:prstGeom>
          <a:ln w="3048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41248" y="4160520"/>
            <a:ext cx="10561320" cy="1417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4407408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Key design decision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97280" y="475488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Read endpoints remain easy to demonstrate, while all write operations are protected by JWT authentication.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External data import is isolated behind a service layer, so route handlers remain small and focused.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4754880"/>
            <a:ext cx="1828800" cy="18288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DATA MODEL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Three core entities support authentication, city metadata, and daily environmental observations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9808" y="1366647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The schema is simple enough for coursework, but structured enough to support real analytical queries.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2423160" cy="301752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Aptos Display"/>
              </a:rPr>
              <a:t>User</a:t>
            </a:r>
            <a:endParaRPr sz="22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32688" y="2670048"/>
            <a:ext cx="1874519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id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username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email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hashed_password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is_active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created_at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407408"/>
            <a:ext cx="1874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Aptos"/>
              </a:rPr>
              <a:t>Used for registration, login, and protected write access.</a:t>
            </a:r>
            <a:endParaRPr sz="1200" b="0">
              <a:solidFill>
                <a:srgbClr val="334155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657600" y="1874519"/>
            <a:ext cx="2743200" cy="3246120"/>
          </a:xfrm>
          <a:prstGeom prst="roundRect">
            <a:avLst/>
          </a:prstGeom>
          <a:solidFill>
            <a:srgbClr val="CCFBF1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58768" y="2084831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Aptos Display"/>
              </a:rPr>
              <a:t>City</a:t>
            </a:r>
            <a:endParaRPr sz="22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58768" y="2542032"/>
            <a:ext cx="2103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id, name, country_code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region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latitude, longitude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timezone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source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created_at, updated_at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4617720"/>
            <a:ext cx="2194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D9488"/>
                </a:solidFill>
                <a:latin typeface="Aptos"/>
              </a:rPr>
              <a:t>Unique: (name, country_code)</a:t>
            </a:r>
            <a:endParaRPr sz="12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903720" y="1645920"/>
            <a:ext cx="3657600" cy="3474720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1874519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Aptos Display"/>
              </a:rPr>
              <a:t>UrbanClimateRecord</a:t>
            </a:r>
            <a:endParaRPr sz="22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150608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id, city_id, record_date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temperature_max_c / min_c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precipitation_sum_mm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wind_speed_max_kmh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pm2_5, pm10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nitrogen_dioxide, ozone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european_aqi, 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0608" y="4645152"/>
            <a:ext cx="2834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Unique: (city_id, record_date)</a:t>
            </a:r>
            <a:endParaRPr sz="1200" b="1">
              <a:solidFill>
                <a:srgbClr val="F97316"/>
              </a:solidFill>
              <a:latin typeface="Aptos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6400800" y="3108960"/>
            <a:ext cx="502920" cy="0"/>
          </a:xfrm>
          <a:prstGeom prst="line">
            <a:avLst/>
          </a:prstGeom>
          <a:ln w="3048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72200" y="2816352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4155"/>
                </a:solidFill>
                <a:latin typeface="Aptos"/>
              </a:rPr>
              <a:t>1 → *</a:t>
            </a:r>
            <a:endParaRPr sz="1300" b="1">
              <a:solidFill>
                <a:srgbClr val="33415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LIVE DOCUMENTATION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Swagger UI makes the API easy to demonstrate and inspect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393" y="1499362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The interactive docs helped during development and will also be used directly in the oral exam.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7132320" cy="4160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ocsassetsswagger-ui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057314"/>
            <a:ext cx="6912864" cy="370349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1965960"/>
            <a:ext cx="31546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csassetsswagger-a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5902" y="2075688"/>
            <a:ext cx="2890632" cy="21579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83879" y="4572000"/>
            <a:ext cx="3154680" cy="1417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4773168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Interactive endpoint testing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JWT login through Authorize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OpenAPI schema export included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937760"/>
            <a:ext cx="2011680" cy="2011680"/>
          </a:xfrm>
          <a:prstGeom prst="ellipse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075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ANALYTICS OUTPUT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391922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The API goes beyond CRUD by returning meaningful aggregated insights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These screenshots show real outputs from the seeded Leeds data rather than manually mocked examples.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49935" y="1874520"/>
            <a:ext cx="5784850" cy="4800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csassetsanalytics-summary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780" y="1984375"/>
            <a:ext cx="5598160" cy="42310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675120" y="1874519"/>
            <a:ext cx="2194560" cy="1572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ocsassetsanalytics-summary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2086180"/>
            <a:ext cx="1975104" cy="114944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098280" y="1874519"/>
            <a:ext cx="2194560" cy="15727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ocsassetsanalytics-summary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8008" y="2287253"/>
            <a:ext cx="1975104" cy="74729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675120" y="3703320"/>
            <a:ext cx="4617720" cy="178371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31152" y="3931920"/>
            <a:ext cx="4114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Aptos Display"/>
              </a:rPr>
              <a:t>What this demonstrates</a:t>
            </a:r>
            <a:endParaRPr sz="19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49440" y="4297680"/>
            <a:ext cx="4069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Summary endpoint returns averaged metrics and the hottest day.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Outputs are suitable for comparison, dashboarding, and explanation in viva questions.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QUALITY AND DELIVERABLES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49935" y="548767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The repository includes the materials examiners are expected to inspect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49808" y="1353312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I prepared the project so the code, documentation, tests, and presentation all point to the same final version.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2514600" cy="160020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084831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Version Control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87552" y="2487168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Public GitHub repo | Commit history: setup, core API, tests, docs, cleanup | Runnable final version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828800"/>
            <a:ext cx="2514600" cy="1600200"/>
          </a:xfrm>
          <a:prstGeom prst="roundRect">
            <a:avLst/>
          </a:prstGeom>
          <a:solidFill>
            <a:srgbClr val="CCFBF1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2463" y="2084831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API Documentation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2463" y="2487168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Swagger UI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OpenAPI JSON export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PDF endpoint guide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828800"/>
            <a:ext cx="2514600" cy="1600200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084831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Technical Report Highlights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487168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Stack justification | Architecture and testing approach | Limitations, future work, and GenAI declaration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828800"/>
            <a:ext cx="2514600" cy="1600200"/>
          </a:xfrm>
          <a:prstGeom prst="roundRect">
            <a:avLst/>
          </a:prstGeom>
          <a:solidFill>
            <a:srgbClr val="EDE9F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1432" y="2084831"/>
            <a:ext cx="2011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Aptos Display"/>
              </a:rPr>
              <a:t>Testing</a:t>
            </a:r>
            <a:endParaRPr sz="20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71432" y="2487168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Pytest coverage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Auth, CRUD, analytics</a:t>
            </a:r>
          </a:p>
          <a:p>
            <a:pPr>
              <a:spcAft>
                <a:spcPts val="800"/>
              </a:spcAft>
              <a:defRPr sz="1400">
                <a:solidFill>
                  <a:srgbClr val="0F172A"/>
                </a:solidFill>
                <a:latin typeface="Aptos"/>
              </a:defRPr>
            </a:pPr>
            <a:r>
              <a:t>Repeatable local verification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77639"/>
            <a:ext cx="10698480" cy="1417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206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All Deliverables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572000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Code repository, API documentation PDF, technical report PDF, presentation slides, OpenAPI export, and reproducible seed script.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D9488"/>
                </a:solidFill>
                <a:latin typeface="Aptos"/>
              </a:rPr>
              <a:t>REFLECTION</a:t>
            </a:r>
            <a:endParaRPr sz="1300" b="1">
              <a:solidFill>
                <a:srgbClr val="0D9488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713232"/>
            <a:ext cx="8046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ptos Display"/>
              </a:rPr>
              <a:t>The project is complete for coursework, but it also suggests clear next steps</a:t>
            </a:r>
            <a:endParaRPr sz="28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393" y="1536192"/>
            <a:ext cx="7863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Aptos"/>
              </a:rPr>
              <a:t>This slide helps transition from demonstration to discussion during the Q&amp;A section.</a:t>
            </a:r>
            <a:endParaRPr sz="1400" b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33832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Aptos Display"/>
              </a:rPr>
              <a:t>Strengths</a:t>
            </a:r>
            <a:endParaRPr sz="22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Clear modular code structure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Real external data integration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Automated testing and seeded demo data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Complete submission materials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965960"/>
            <a:ext cx="33832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224028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Aptos Display"/>
              </a:rPr>
              <a:t>Current limitations</a:t>
            </a:r>
            <a:endParaRPr sz="22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36008" y="269748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SQLite is best for local 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Imports are synchronous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Authentication is still simple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No frontend dashboard yet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65960"/>
            <a:ext cx="33832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4028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Aptos Display"/>
              </a:rPr>
              <a:t>Future improvements</a:t>
            </a:r>
            <a:endParaRPr sz="2200" b="1">
              <a:solidFill>
                <a:srgbClr val="0F172A"/>
              </a:solidFill>
              <a:latin typeface="Aptos Display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75320" y="269748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Move to PostgreSQL and hosted deployment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Schedule background imports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Add role-based access control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ptos"/>
              </a:defRPr>
            </a:pPr>
            <a:r>
              <a:t>Build a small analytics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4389</Words>
  <Application>WPS 演示</Application>
  <PresentationFormat>On-screen Show (4:3)</PresentationFormat>
  <Paragraphs>207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0" baseType="lpstr">
      <vt:lpstr>Arial</vt:lpstr>
      <vt:lpstr>宋体</vt:lpstr>
      <vt:lpstr>Wingdings</vt:lpstr>
      <vt:lpstr>Arial</vt:lpstr>
      <vt:lpstr>Aptos</vt:lpstr>
      <vt:lpstr>Segoe UI</vt:lpstr>
      <vt:lpstr>Aptos Display</vt:lpstr>
      <vt:lpstr>Calibri</vt:lpstr>
      <vt:lpstr>Segoe UI Variable Display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杨智翔.</cp:lastModifiedBy>
  <cp:revision>4</cp:revision>
  <dcterms:created xsi:type="dcterms:W3CDTF">2013-01-27T09:14:00Z</dcterms:created>
  <dcterms:modified xsi:type="dcterms:W3CDTF">2026-04-17T07:50:20Z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10808048CC484006ADC63D7BAFD69F6A_12</vt:lpwstr>
  </property>
  <property fmtid="{D5CDD505-2E9C-101B-9397-08002B2CF9AE}" pid="3" name="KSOProductBuildVer">
    <vt:lpwstr>2052-12.1.0.25865</vt:lpwstr>
  </property>
</Properties>
</file>